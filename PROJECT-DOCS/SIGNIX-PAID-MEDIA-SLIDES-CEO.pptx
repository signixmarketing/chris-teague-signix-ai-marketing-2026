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62" r:id="rId4"/>
    <p:sldId id="260" r:id="rId5"/>
    <p:sldId id="263" r:id="rId6"/>
    <p:sldId id="258" r:id="rId7"/>
    <p:sldId id="259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48"/>
  </p:normalViewPr>
  <p:slideViewPr>
    <p:cSldViewPr snapToGrid="0" snapToObjects="1">
      <p:cViewPr varScale="1">
        <p:scale>
          <a:sx n="149" d="100"/>
          <a:sy n="149" d="100"/>
        </p:scale>
        <p:origin x="58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7A6DF-98EB-0144-A5CC-1EA9698F9269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69CF3D-4BD9-B94A-85D3-4D80C35F3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95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A393A-7E1D-294C-9CEB-1F8BF0D0FFA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93008" y="822960"/>
            <a:ext cx="64008" cy="6217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11880" y="786384"/>
            <a:ext cx="3657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SIGNiX</a:t>
            </a:r>
          </a:p>
        </p:txBody>
      </p:sp>
      <p:sp>
        <p:nvSpPr>
          <p:cNvPr id="5" name="Rectangle 4"/>
          <p:cNvSpPr/>
          <p:nvPr/>
        </p:nvSpPr>
        <p:spPr>
          <a:xfrm>
            <a:off x="3493008" y="1517904"/>
            <a:ext cx="3657600" cy="20116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69164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2026 Paid Media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42032"/>
            <a:ext cx="6400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DA34A"/>
                </a:solidFill>
                <a:latin typeface="Calibri"/>
              </a:rPr>
              <a:t>Moving Budget to the Deals That Matter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1752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Chris  ·  Head of Growth and Marketing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"/>
            <a:ext cx="7955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A34A"/>
                </a:solidFill>
                <a:latin typeface="Calibri"/>
              </a:rPr>
              <a:t>STRATEGIC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83464"/>
            <a:ext cx="79552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E3440"/>
                </a:solidFill>
                <a:latin typeface="Calibri"/>
              </a:rPr>
              <a:t>Notary Leads Cost More Than They Bring 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722876"/>
            <a:ext cx="9144000" cy="9525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26680" y="48143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E3440"/>
                </a:solidFill>
                <a:latin typeface="Calibri"/>
              </a:rPr>
              <a:t>SIGNiX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4850892"/>
            <a:ext cx="50292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914400"/>
            <a:ext cx="4133087" cy="3657600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914400"/>
            <a:ext cx="41148" cy="3657600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6" y="1042416"/>
            <a:ext cx="3950207" cy="2952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6DA34A"/>
                </a:solidFill>
                <a:latin typeface="Calibri"/>
              </a:rPr>
              <a:t>CURRENT STATE: THE PROBLEM</a:t>
            </a:r>
          </a:p>
          <a:p>
            <a:pPr algn="l">
              <a:spcBef>
                <a:spcPts val="300"/>
              </a:spcBef>
            </a:pPr>
            <a:r>
              <a:rPr sz="1200" dirty="0">
                <a:solidFill>
                  <a:srgbClr val="C8D0D8"/>
                </a:solidFill>
                <a:latin typeface="Calibri"/>
              </a:rPr>
              <a:t>›  All spend goes to individual notary searches on Google</a:t>
            </a:r>
            <a:endParaRPr lang="en-US" sz="1200" dirty="0">
              <a:solidFill>
                <a:srgbClr val="C8D0D8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endParaRPr sz="1200" dirty="0">
              <a:solidFill>
                <a:srgbClr val="C8D0D8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200" dirty="0">
                <a:solidFill>
                  <a:srgbClr val="C8D0D8"/>
                </a:solidFill>
                <a:latin typeface="Calibri"/>
              </a:rPr>
              <a:t>›  Low value per customer. Most pay once and don't come back.</a:t>
            </a:r>
            <a:endParaRPr lang="en-US" sz="1200" dirty="0">
              <a:solidFill>
                <a:srgbClr val="C8D0D8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endParaRPr sz="1200" dirty="0">
              <a:solidFill>
                <a:srgbClr val="C8D0D8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200" b="1" dirty="0">
                <a:solidFill>
                  <a:srgbClr val="C8D0D8"/>
                </a:solidFill>
                <a:latin typeface="Calibri"/>
              </a:rPr>
              <a:t>›  Each deal takes a sales rep and CSM's full onboarding time. Cost likely exceeds revenue.</a:t>
            </a:r>
            <a:endParaRPr lang="en-US" sz="1200" b="1" dirty="0">
              <a:solidFill>
                <a:srgbClr val="C8D0D8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endParaRPr sz="1200" dirty="0">
              <a:solidFill>
                <a:srgbClr val="C8D0D8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200" dirty="0">
                <a:solidFill>
                  <a:srgbClr val="C8D0D8"/>
                </a:solidFill>
                <a:latin typeface="Calibri"/>
              </a:rPr>
              <a:t>›  No presence with the buyers who actually generate recurring revenue.</a:t>
            </a:r>
            <a:endParaRPr lang="en-US" sz="1200" dirty="0">
              <a:solidFill>
                <a:srgbClr val="C8D0D8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endParaRPr sz="1200" dirty="0">
              <a:solidFill>
                <a:srgbClr val="C8D0D8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200" b="1" dirty="0">
                <a:solidFill>
                  <a:srgbClr val="C8D0D8"/>
                </a:solidFill>
                <a:latin typeface="Calibri"/>
              </a:rPr>
              <a:t>›  RON leads are the whole pipeline. That won't scale.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26864" y="914400"/>
            <a:ext cx="4133087" cy="36576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26864" y="914400"/>
            <a:ext cx="41148" cy="3657600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1042416"/>
            <a:ext cx="3950207" cy="3136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6DA34A"/>
                </a:solidFill>
                <a:latin typeface="Calibri"/>
              </a:rPr>
              <a:t>PROPOSED STATE: THE SHIFT</a:t>
            </a:r>
          </a:p>
          <a:p>
            <a:pPr algn="l">
              <a:spcBef>
                <a:spcPts val="300"/>
              </a:spcBef>
            </a:pPr>
            <a:r>
              <a:rPr sz="1200" dirty="0">
                <a:solidFill>
                  <a:srgbClr val="545454"/>
                </a:solidFill>
                <a:latin typeface="Calibri"/>
              </a:rPr>
              <a:t>›  $3,000/month, Google only. </a:t>
            </a:r>
            <a:r>
              <a:rPr sz="1200" b="1" dirty="0">
                <a:solidFill>
                  <a:srgbClr val="545454"/>
                </a:solidFill>
                <a:latin typeface="Calibri"/>
              </a:rPr>
              <a:t>No budget increase </a:t>
            </a:r>
            <a:r>
              <a:rPr sz="1200" dirty="0">
                <a:solidFill>
                  <a:srgbClr val="545454"/>
                </a:solidFill>
                <a:latin typeface="Calibri"/>
              </a:rPr>
              <a:t>needed.</a:t>
            </a:r>
            <a:endParaRPr lang="en-US" sz="1200" dirty="0">
              <a:solidFill>
                <a:srgbClr val="545454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endParaRPr sz="1200" dirty="0">
              <a:solidFill>
                <a:srgbClr val="545454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200" dirty="0">
                <a:solidFill>
                  <a:srgbClr val="545454"/>
                </a:solidFill>
                <a:latin typeface="Calibri"/>
              </a:rPr>
              <a:t>›  Target three sectors: </a:t>
            </a:r>
            <a:r>
              <a:rPr sz="1200" b="1" dirty="0">
                <a:solidFill>
                  <a:srgbClr val="545454"/>
                </a:solidFill>
                <a:latin typeface="Calibri"/>
              </a:rPr>
              <a:t>financial services, healthcare, and </a:t>
            </a:r>
            <a:r>
              <a:rPr lang="en-US" sz="1200" b="1" dirty="0">
                <a:solidFill>
                  <a:srgbClr val="545454"/>
                </a:solidFill>
                <a:latin typeface="Calibri"/>
              </a:rPr>
              <a:t>legal</a:t>
            </a:r>
            <a:r>
              <a:rPr sz="1200" b="1" dirty="0">
                <a:solidFill>
                  <a:srgbClr val="545454"/>
                </a:solidFill>
                <a:latin typeface="Calibri"/>
              </a:rPr>
              <a:t>.</a:t>
            </a:r>
            <a:endParaRPr lang="en-US" sz="1200" b="1" dirty="0">
              <a:solidFill>
                <a:srgbClr val="545454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endParaRPr sz="1200" dirty="0">
              <a:solidFill>
                <a:srgbClr val="545454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200" dirty="0">
                <a:solidFill>
                  <a:srgbClr val="545454"/>
                </a:solidFill>
                <a:latin typeface="Calibri"/>
              </a:rPr>
              <a:t>›  These buyers need a </a:t>
            </a:r>
            <a:r>
              <a:rPr sz="1200" b="1" dirty="0">
                <a:solidFill>
                  <a:srgbClr val="545454"/>
                </a:solidFill>
                <a:latin typeface="Calibri"/>
              </a:rPr>
              <a:t>defensible audit trail</a:t>
            </a:r>
            <a:r>
              <a:rPr lang="en-US" sz="1200" dirty="0">
                <a:solidFill>
                  <a:srgbClr val="545454"/>
                </a:solidFill>
                <a:latin typeface="Calibri"/>
              </a:rPr>
              <a:t>, </a:t>
            </a:r>
            <a:r>
              <a:rPr sz="1200" dirty="0">
                <a:solidFill>
                  <a:srgbClr val="545454"/>
                </a:solidFill>
                <a:latin typeface="Calibri"/>
              </a:rPr>
              <a:t>not just a fast click.</a:t>
            </a:r>
            <a:endParaRPr lang="en-US" sz="1200" dirty="0">
              <a:solidFill>
                <a:srgbClr val="545454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endParaRPr sz="1200" dirty="0">
              <a:solidFill>
                <a:srgbClr val="545454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200" dirty="0">
                <a:solidFill>
                  <a:srgbClr val="545454"/>
                </a:solidFill>
                <a:latin typeface="Calibri"/>
              </a:rPr>
              <a:t>›  Fear opens the door. Our human CSM model closes the deal.</a:t>
            </a:r>
            <a:endParaRPr lang="en-US" sz="1200" dirty="0">
              <a:solidFill>
                <a:srgbClr val="545454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endParaRPr sz="1200" dirty="0">
              <a:solidFill>
                <a:srgbClr val="545454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200" dirty="0">
                <a:solidFill>
                  <a:srgbClr val="545454"/>
                </a:solidFill>
                <a:latin typeface="Calibri"/>
              </a:rPr>
              <a:t>›  LinkedIn added in Phase 2 once Google performance is proven.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"/>
            <a:ext cx="7955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A34A"/>
                </a:solidFill>
                <a:latin typeface="Calibri"/>
              </a:rPr>
              <a:t>BUDGET &amp; KEYWORDS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83464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3440"/>
                </a:solidFill>
                <a:latin typeface="Calibri"/>
              </a:rPr>
              <a:t>$3,000/Month Google — Six Keyword Buckets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722876"/>
            <a:ext cx="9144000" cy="9525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26680" y="48143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E3440"/>
                </a:solidFill>
                <a:latin typeface="Calibri"/>
              </a:rPr>
              <a:t>SIGNiX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4850892"/>
            <a:ext cx="50292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158911"/>
              </p:ext>
            </p:extLst>
          </p:nvPr>
        </p:nvGraphicFramePr>
        <p:xfrm>
          <a:off x="384048" y="932688"/>
          <a:ext cx="4251960" cy="39188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Google Bucket</a:t>
                      </a:r>
                    </a:p>
                  </a:txBody>
                  <a:tcPr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Alloc.</a:t>
                      </a:r>
                    </a:p>
                  </a:txBody>
                  <a:tcPr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Top Keywords</a:t>
                      </a:r>
                    </a:p>
                  </a:txBody>
                  <a:tcPr>
                    <a:solidFill>
                      <a:srgbClr val="2E3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E3440"/>
                          </a:solidFill>
                          <a:latin typeface="Calibri"/>
                        </a:rPr>
                        <a:t>Compliance / Regulatory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DA34A"/>
                          </a:solidFill>
                          <a:latin typeface="Calibri"/>
                        </a:rPr>
                        <a:t>~$800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>
                          <a:solidFill>
                            <a:srgbClr val="545454"/>
                          </a:solidFill>
                          <a:latin typeface="Calibri"/>
                        </a:rPr>
                        <a:t>SEC 17a-4 e-signature, FINRA digital signature, electronic recordkeeping broker dealer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E3440"/>
                          </a:solidFill>
                          <a:latin typeface="Calibri"/>
                        </a:rPr>
                        <a:t>Authentication / Fraud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DA34A"/>
                          </a:solidFill>
                          <a:latin typeface="Calibri"/>
                        </a:rPr>
                        <a:t>~$600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>
                          <a:solidFill>
                            <a:srgbClr val="545454"/>
                          </a:solidFill>
                          <a:latin typeface="Calibri"/>
                        </a:rPr>
                        <a:t>e-signature identity verification, KBA electronic signature, AI fraud e-signature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E3440"/>
                          </a:solidFill>
                          <a:latin typeface="Calibri"/>
                        </a:rPr>
                        <a:t>Wealth Management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DA34A"/>
                          </a:solidFill>
                          <a:latin typeface="Calibri"/>
                        </a:rPr>
                        <a:t>~$500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>
                          <a:solidFill>
                            <a:srgbClr val="545454"/>
                          </a:solidFill>
                          <a:latin typeface="Calibri"/>
                        </a:rPr>
                        <a:t>e-signature rollover forms, IRA distribution e-sign, beneficiary change form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578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E3440"/>
                          </a:solidFill>
                          <a:latin typeface="Calibri"/>
                        </a:rPr>
                        <a:t>Industry / Use-Case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DA34A"/>
                          </a:solidFill>
                          <a:latin typeface="Calibri"/>
                        </a:rPr>
                        <a:t>~$600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>
                          <a:solidFill>
                            <a:srgbClr val="545454"/>
                          </a:solidFill>
                          <a:latin typeface="Calibri"/>
                        </a:rPr>
                        <a:t>e-signature for banks, HIPAA compliant e-signature, digital signature mortgage docs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E3440"/>
                          </a:solidFill>
                          <a:latin typeface="Calibri"/>
                        </a:rPr>
                        <a:t>Competitor Displacement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DA34A"/>
                          </a:solidFill>
                          <a:latin typeface="Calibri"/>
                        </a:rPr>
                        <a:t>~$400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 err="1">
                          <a:solidFill>
                            <a:srgbClr val="545454"/>
                          </a:solidFill>
                          <a:latin typeface="Calibri"/>
                        </a:rPr>
                        <a:t>docusign</a:t>
                      </a:r>
                      <a:r>
                        <a:rPr sz="850" b="0" dirty="0">
                          <a:solidFill>
                            <a:srgbClr val="545454"/>
                          </a:solidFill>
                          <a:latin typeface="Calibri"/>
                        </a:rPr>
                        <a:t> alternative financial services, adobe sign alternative compliance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E3440"/>
                          </a:solidFill>
                          <a:latin typeface="Calibri"/>
                        </a:rPr>
                        <a:t>RON Institutional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DA34A"/>
                          </a:solidFill>
                          <a:latin typeface="Calibri"/>
                        </a:rPr>
                        <a:t>~$100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>
                          <a:solidFill>
                            <a:srgbClr val="545454"/>
                          </a:solidFill>
                          <a:latin typeface="Calibri"/>
                        </a:rPr>
                        <a:t>RON platform financial institutions — individual notary terms dropped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754880" y="932688"/>
            <a:ext cx="3986784" cy="1719072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0" y="932688"/>
            <a:ext cx="41148" cy="171907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64608" y="1060704"/>
            <a:ext cx="3803904" cy="1351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6DA34A"/>
                </a:solidFill>
                <a:latin typeface="Calibri"/>
              </a:rPr>
              <a:t>MESSAGE FRAMEWORK</a:t>
            </a:r>
          </a:p>
          <a:p>
            <a:pPr algn="l">
              <a:spcBef>
                <a:spcPts val="300"/>
              </a:spcBef>
            </a:pPr>
            <a:r>
              <a:rPr sz="1100" dirty="0">
                <a:solidFill>
                  <a:srgbClr val="545454"/>
                </a:solidFill>
                <a:latin typeface="Calibri"/>
              </a:rPr>
              <a:t>›  Fear-first: 'Can you prove who signed?'</a:t>
            </a:r>
          </a:p>
          <a:p>
            <a:pPr algn="l">
              <a:spcBef>
                <a:spcPts val="300"/>
              </a:spcBef>
            </a:pPr>
            <a:r>
              <a:rPr sz="1100" dirty="0">
                <a:solidFill>
                  <a:srgbClr val="545454"/>
                </a:solidFill>
                <a:latin typeface="Calibri"/>
              </a:rPr>
              <a:t>›  Partnership close: 'We assign you a CSM who knows your workflows.'</a:t>
            </a:r>
          </a:p>
          <a:p>
            <a:pPr algn="l">
              <a:spcBef>
                <a:spcPts val="300"/>
              </a:spcBef>
            </a:pPr>
            <a:r>
              <a:rPr sz="1100" dirty="0">
                <a:solidFill>
                  <a:srgbClr val="545454"/>
                </a:solidFill>
                <a:latin typeface="Calibri"/>
              </a:rPr>
              <a:t>›  Never lead with features</a:t>
            </a:r>
            <a:r>
              <a:rPr lang="en-US" sz="1100" dirty="0">
                <a:solidFill>
                  <a:srgbClr val="545454"/>
                </a:solidFill>
                <a:latin typeface="Calibri"/>
              </a:rPr>
              <a:t>: L</a:t>
            </a:r>
            <a:r>
              <a:rPr sz="1100" dirty="0">
                <a:solidFill>
                  <a:srgbClr val="545454"/>
                </a:solidFill>
                <a:latin typeface="Calibri"/>
              </a:rPr>
              <a:t>ead with the consequence of not having 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798064"/>
            <a:ext cx="3986784" cy="1719072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54880" y="2798064"/>
            <a:ext cx="41148" cy="171907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64608" y="2926080"/>
            <a:ext cx="3803904" cy="1013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6DA34A"/>
                </a:solidFill>
                <a:latin typeface="Calibri"/>
              </a:rPr>
              <a:t>AD SCHEDULING + PHASE 2</a:t>
            </a:r>
          </a:p>
          <a:p>
            <a:pPr algn="l">
              <a:spcBef>
                <a:spcPts val="300"/>
              </a:spcBef>
            </a:pPr>
            <a:r>
              <a:rPr sz="1100" dirty="0">
                <a:solidFill>
                  <a:srgbClr val="545454"/>
                </a:solidFill>
                <a:latin typeface="Calibri"/>
              </a:rPr>
              <a:t>›  Ads run 8am-5pm EST, Mon-Fri only</a:t>
            </a:r>
          </a:p>
          <a:p>
            <a:pPr algn="l">
              <a:spcBef>
                <a:spcPts val="300"/>
              </a:spcBef>
            </a:pPr>
            <a:r>
              <a:rPr sz="1100" dirty="0">
                <a:solidFill>
                  <a:srgbClr val="545454"/>
                </a:solidFill>
                <a:latin typeface="Calibri"/>
              </a:rPr>
              <a:t>›  Leads arrive when someone can follow up same day</a:t>
            </a:r>
          </a:p>
          <a:p>
            <a:pPr algn="l">
              <a:spcBef>
                <a:spcPts val="300"/>
              </a:spcBef>
            </a:pPr>
            <a:r>
              <a:rPr sz="1100" dirty="0">
                <a:solidFill>
                  <a:srgbClr val="545454"/>
                </a:solidFill>
                <a:latin typeface="Calibri"/>
              </a:rPr>
              <a:t>›  LinkedIn added in Phase 2 after 60-day Google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"/>
            <a:ext cx="7955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A34A"/>
                </a:solidFill>
                <a:latin typeface="Calibri"/>
              </a:rPr>
              <a:t>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83464"/>
            <a:ext cx="79552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E3440"/>
                </a:solidFill>
                <a:latin typeface="Calibri"/>
              </a:rPr>
              <a:t>Three Numbers That Tell Us If It's Working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722876"/>
            <a:ext cx="9144000" cy="9525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26680" y="48143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E3440"/>
                </a:solidFill>
                <a:latin typeface="Calibri"/>
              </a:rPr>
              <a:t>SIGNiX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4850892"/>
            <a:ext cx="50292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005840"/>
            <a:ext cx="2468880" cy="292608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3886200"/>
            <a:ext cx="2468880" cy="45720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572768" y="1170432"/>
            <a:ext cx="512064" cy="512064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72768" y="1170432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7830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3440"/>
                </a:solidFill>
                <a:latin typeface="Calibri"/>
              </a:rPr>
              <a:t>Cost Per
Qualified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68880"/>
            <a:ext cx="2194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5454"/>
                </a:solidFill>
                <a:latin typeface="Calibri"/>
              </a:rPr>
              <a:t>Compare new B2B leads against what we pay per notary lead today. If it's lower — and we expect it will be — the case is proven.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005840"/>
            <a:ext cx="2468880" cy="292608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74720" y="3886200"/>
            <a:ext cx="2468880" cy="45720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53128" y="1170432"/>
            <a:ext cx="512064" cy="512064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53128" y="1170432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17830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3440"/>
                </a:solidFill>
                <a:latin typeface="Calibri"/>
              </a:rPr>
              <a:t>Staff Hours
Per Closed Deal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468880"/>
            <a:ext cx="2194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5454"/>
                </a:solidFill>
                <a:latin typeface="Calibri"/>
              </a:rPr>
              <a:t>The hidden cost metric. Notary deals consume rep and CSM time well beyond their revenue. B2B deals should close at lower internal cost.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1005840"/>
            <a:ext cx="2468880" cy="292608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55080" y="3886200"/>
            <a:ext cx="2468880" cy="45720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33488" y="1170432"/>
            <a:ext cx="512064" cy="512064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33488" y="1170432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7830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3440"/>
                </a:solidFill>
                <a:latin typeface="Calibri"/>
              </a:rPr>
              <a:t>Pipeline Sourced
in HubSpot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468880"/>
            <a:ext cx="21945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45454"/>
                </a:solidFill>
                <a:latin typeface="Calibri"/>
              </a:rPr>
              <a:t>Total revenue potential from paid-sourced leads, tracked by channel. This is the number 90</a:t>
            </a:r>
            <a:r>
              <a:rPr lang="en-US" sz="1000" b="0" i="0" dirty="0">
                <a:solidFill>
                  <a:srgbClr val="545454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545454"/>
                </a:solidFill>
                <a:latin typeface="Calibri"/>
              </a:rPr>
              <a:t>day</a:t>
            </a:r>
            <a:r>
              <a:rPr lang="en-US" sz="1000" b="0" i="0" dirty="0">
                <a:solidFill>
                  <a:srgbClr val="545454"/>
                </a:solidFill>
                <a:latin typeface="Calibri"/>
              </a:rPr>
              <a:t> number </a:t>
            </a:r>
            <a:r>
              <a:rPr lang="en-US" sz="1000" b="0" i="0">
                <a:solidFill>
                  <a:srgbClr val="545454"/>
                </a:solidFill>
                <a:latin typeface="Calibri"/>
              </a:rPr>
              <a:t>we will review</a:t>
            </a:r>
            <a:r>
              <a:rPr sz="1000" b="0" i="0">
                <a:solidFill>
                  <a:srgbClr val="545454"/>
                </a:solidFill>
                <a:latin typeface="Calibri"/>
              </a:rPr>
              <a:t>.</a:t>
            </a:r>
            <a:endParaRPr sz="1000" b="0" i="0" dirty="0">
              <a:solidFill>
                <a:srgbClr val="545454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94360" y="4041648"/>
            <a:ext cx="7955279" cy="658368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4360" y="4041648"/>
            <a:ext cx="41148" cy="658368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4" y="41605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60-day check-in: cost per qualified lead vs. notary lead baseline, staff hours per deal, and pipeline sourced. If the numbers don't hold up, we adjust.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"/>
            <a:ext cx="7955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A34A"/>
                </a:solidFill>
                <a:latin typeface="Calibri"/>
              </a:rPr>
              <a:t>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83464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3440"/>
                </a:solidFill>
                <a:latin typeface="Calibri"/>
              </a:rPr>
              <a:t>60-Day Leading Signals  ·  90-Day Revenue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722876"/>
            <a:ext cx="9144000" cy="9525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26680" y="48143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E3440"/>
                </a:solidFill>
                <a:latin typeface="Calibri"/>
              </a:rPr>
              <a:t>SIGNiX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4850892"/>
            <a:ext cx="50292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914400"/>
            <a:ext cx="4005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A34A"/>
                </a:solidFill>
                <a:latin typeface="Calibri"/>
              </a:rPr>
              <a:t>LEADING INDICATORS — WEEKLY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115568"/>
            <a:ext cx="4005072" cy="19050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1225296"/>
            <a:ext cx="475488" cy="201168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1220724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170432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5454"/>
                </a:solidFill>
                <a:latin typeface="Calibri"/>
              </a:rPr>
              <a:t>Impression share above 40% on top keyword buckets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1593850"/>
            <a:ext cx="400507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4048" y="1655064"/>
            <a:ext cx="475488" cy="201168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1650492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1600200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5454"/>
                </a:solidFill>
                <a:latin typeface="Calibri"/>
              </a:rPr>
              <a:t>CTR above 3-6% on B2B search campaigns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2023618"/>
            <a:ext cx="400507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4048" y="2084832"/>
            <a:ext cx="475488" cy="201168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" y="2080260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029968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5454"/>
                </a:solidFill>
                <a:latin typeface="Calibri"/>
              </a:rPr>
              <a:t>Landing page bounce rate below 60%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2453386"/>
            <a:ext cx="400507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84048" y="2514600"/>
            <a:ext cx="475488" cy="201168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048" y="2510028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459736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5454"/>
                </a:solidFill>
                <a:latin typeface="Calibri"/>
              </a:rPr>
              <a:t>Form fill / demo request rate above 2% of paid clicks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2883154"/>
            <a:ext cx="400507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84048" y="2944368"/>
            <a:ext cx="475488" cy="201168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4048" y="2939796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2889504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5454"/>
                </a:solidFill>
                <a:latin typeface="Calibri"/>
              </a:rPr>
              <a:t>More than 40% of leads match our target buyer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3312922"/>
            <a:ext cx="400507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84048" y="3374136"/>
            <a:ext cx="475488" cy="201168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4048" y="3369564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319272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5454"/>
                </a:solidFill>
                <a:latin typeface="Calibri"/>
              </a:rPr>
              <a:t>Lead to first sales touchpoint in under 48 hours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" y="3742690"/>
            <a:ext cx="400507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84048" y="3803904"/>
            <a:ext cx="475488" cy="201168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4048" y="3799332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749040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5454"/>
                </a:solidFill>
                <a:latin typeface="Calibri"/>
              </a:rPr>
              <a:t>CEO gets daily lead count report from HubSpot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" y="4172458"/>
            <a:ext cx="400507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54880" y="914400"/>
            <a:ext cx="4005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A34A"/>
                </a:solidFill>
                <a:latin typeface="Calibri"/>
              </a:rPr>
              <a:t>LAGGING INDICATORS — MONTHLY / QUARTERLY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1115568"/>
            <a:ext cx="4005072" cy="19050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754880" y="1225296"/>
            <a:ext cx="475488" cy="201168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54880" y="1220724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PROOF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85232" y="1170432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5454"/>
                </a:solidFill>
                <a:latin typeface="Calibri"/>
              </a:rPr>
              <a:t>Cost per qualified lead (CPL) vs. notary lead baseline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0" y="1593850"/>
            <a:ext cx="400507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754880" y="1655064"/>
            <a:ext cx="475488" cy="201168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754880" y="1650492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PROOF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85232" y="1600200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5454"/>
                </a:solidFill>
                <a:latin typeface="Calibri"/>
              </a:rPr>
              <a:t>MQLs per month — is pipeline building?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54880" y="2023618"/>
            <a:ext cx="400507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754880" y="2084832"/>
            <a:ext cx="475488" cy="201168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754880" y="2080260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PROOF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85232" y="2029968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5454"/>
                </a:solidFill>
                <a:latin typeface="Calibri"/>
              </a:rPr>
              <a:t>Sales-accepted leads: did the team agree they were good?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80" y="2453386"/>
            <a:ext cx="400507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754880" y="2514600"/>
            <a:ext cx="475488" cy="201168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754880" y="2510028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PROOF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85232" y="2459736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5454"/>
                </a:solidFill>
                <a:latin typeface="Calibri"/>
              </a:rPr>
              <a:t>Pipeline sourced ($) attributed in HubSpot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54880" y="2883154"/>
            <a:ext cx="400507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754880" y="2944368"/>
            <a:ext cx="475488" cy="201168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754880" y="2939796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PROOF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85232" y="2889504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5454"/>
                </a:solidFill>
                <a:latin typeface="Calibri"/>
              </a:rPr>
              <a:t>Average deal ACV vs. notary lead ACV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54880" y="3312922"/>
            <a:ext cx="400507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754880" y="3374136"/>
            <a:ext cx="475488" cy="201168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754880" y="3369564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PROOF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85232" y="3319272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5454"/>
                </a:solidFill>
                <a:latin typeface="Calibri"/>
              </a:rPr>
              <a:t>Staff hours per closed deal: the number that shows real cost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754880" y="3742690"/>
            <a:ext cx="400507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754880" y="3803904"/>
            <a:ext cx="475488" cy="201168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754880" y="3799332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PROOF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85232" y="3749040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45454"/>
                </a:solidFill>
                <a:latin typeface="Calibri"/>
              </a:rPr>
              <a:t>Transaction volume from new customers from paid ads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754880" y="4172458"/>
            <a:ext cx="400507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"/>
            <a:ext cx="7955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A34A"/>
                </a:solidFill>
                <a:latin typeface="Calibri"/>
              </a:rPr>
              <a:t>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83464"/>
            <a:ext cx="79552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E3440"/>
                </a:solidFill>
                <a:latin typeface="Calibri"/>
              </a:rPr>
              <a:t>$</a:t>
            </a:r>
            <a:r>
              <a:rPr lang="en-US" sz="2400" b="1" i="0" dirty="0">
                <a:solidFill>
                  <a:srgbClr val="2E3440"/>
                </a:solidFill>
                <a:latin typeface="Calibri"/>
              </a:rPr>
              <a:t>3</a:t>
            </a:r>
            <a:r>
              <a:rPr sz="2400" b="1" i="0" dirty="0">
                <a:solidFill>
                  <a:srgbClr val="2E3440"/>
                </a:solidFill>
                <a:latin typeface="Calibri"/>
              </a:rPr>
              <a:t>,000/Month, Moved to Enterprise Buyers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722876"/>
            <a:ext cx="9144000" cy="9525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26680" y="48143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E3440"/>
                </a:solidFill>
                <a:latin typeface="Calibri"/>
              </a:rPr>
              <a:t>SIGNiX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4850892"/>
            <a:ext cx="50292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987552"/>
            <a:ext cx="2560320" cy="260604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3557016"/>
            <a:ext cx="2560320" cy="36576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12471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3440"/>
                </a:solidFill>
                <a:latin typeface="Calibri"/>
              </a:rPr>
              <a:t>$3,000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67335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GOOGLE SEARCH 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1947672"/>
            <a:ext cx="234086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5454"/>
                </a:solidFill>
                <a:latin typeface="Calibri"/>
              </a:rPr>
              <a:t>Five keyword groups targeting FI buyers and ISV developers. Focused on competitor displacement, authentication, and regulated industry terms.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987552"/>
            <a:ext cx="2560320" cy="260604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74720" y="3557016"/>
            <a:ext cx="2560320" cy="36576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0" y="1124712"/>
            <a:ext cx="2560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2E3440"/>
                </a:solidFill>
                <a:latin typeface="Calibri"/>
              </a:rPr>
              <a:t>$</a:t>
            </a:r>
            <a:r>
              <a:rPr lang="en-US" sz="2800" b="1" i="0" dirty="0">
                <a:solidFill>
                  <a:srgbClr val="2E3440"/>
                </a:solidFill>
                <a:latin typeface="Calibri"/>
              </a:rPr>
              <a:t>0</a:t>
            </a:r>
            <a:endParaRPr sz="2800" b="1" i="0" dirty="0">
              <a:solidFill>
                <a:srgbClr val="2E3440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474720" y="1673352"/>
            <a:ext cx="256032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>
                <a:solidFill>
                  <a:srgbClr val="6B7280"/>
                </a:solidFill>
                <a:latin typeface="Calibri"/>
              </a:rPr>
              <a:t>LINKEDIN </a:t>
            </a:r>
            <a:r>
              <a:rPr lang="en-US" sz="750" b="1" dirty="0">
                <a:solidFill>
                  <a:srgbClr val="6B7280"/>
                </a:solidFill>
                <a:latin typeface="Calibri"/>
              </a:rPr>
              <a:t>ORGANIC</a:t>
            </a:r>
            <a:endParaRPr sz="750" b="1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84448" y="1947672"/>
            <a:ext cx="234086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45454"/>
                </a:solidFill>
                <a:latin typeface="Calibri"/>
              </a:rPr>
              <a:t>Two groups: FI ops and compliance leaders ($800) and ISV product teams ($700). Sponsored posts only for the first two months.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987552"/>
            <a:ext cx="2560320" cy="260604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5080" y="3557016"/>
            <a:ext cx="2560320" cy="36576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1124712"/>
            <a:ext cx="2560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2E3440"/>
                </a:solidFill>
                <a:latin typeface="Calibri"/>
              </a:rPr>
              <a:t>$</a:t>
            </a:r>
            <a:r>
              <a:rPr lang="en-US" sz="2800" b="1" i="0" dirty="0">
                <a:solidFill>
                  <a:srgbClr val="2E3440"/>
                </a:solidFill>
                <a:latin typeface="Calibri"/>
              </a:rPr>
              <a:t>0</a:t>
            </a:r>
            <a:endParaRPr sz="2800" b="1" i="0" dirty="0">
              <a:solidFill>
                <a:srgbClr val="2E3440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55080" y="167335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B7280"/>
                </a:solidFill>
                <a:latin typeface="Calibri"/>
              </a:rPr>
              <a:t>TEST &amp; RESERVE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1947672"/>
            <a:ext cx="234086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45454"/>
                </a:solidFill>
                <a:latin typeface="Calibri"/>
              </a:rPr>
              <a:t>Used for landing page tests, new keyword trials, and cost-per-click buffer. Moved to the top channel after a 30-day review.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703320"/>
            <a:ext cx="7955279" cy="694944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0" y="3703320"/>
            <a:ext cx="41148" cy="694944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3813048"/>
            <a:ext cx="7726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3440"/>
                </a:solidFill>
                <a:latin typeface="Calibri"/>
              </a:rPr>
              <a:t>No budget increase needed.  </a:t>
            </a:r>
            <a:r>
              <a:rPr sz="1050" b="0" i="0">
                <a:solidFill>
                  <a:srgbClr val="545454"/>
                </a:solidFill>
                <a:latin typeface="Calibri"/>
              </a:rPr>
              <a:t>We are moving existing spend, not adding to it. Notary keywords stop right away. RON stays at a small budget for institutional buyers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"/>
            <a:ext cx="7955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A34A"/>
                </a:solidFill>
                <a:latin typeface="Calibri"/>
              </a:rPr>
              <a:t>CHANNELS &amp; KEYWORDS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83464"/>
            <a:ext cx="79552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E3440"/>
                </a:solidFill>
                <a:latin typeface="Calibri"/>
              </a:rPr>
              <a:t>Google + LinkedIn: Reaching the Right Buyers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722876"/>
            <a:ext cx="9144000" cy="9525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26680" y="48143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E3440"/>
                </a:solidFill>
                <a:latin typeface="Calibri"/>
              </a:rPr>
              <a:t>SIGNiX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4850892"/>
            <a:ext cx="50292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494589"/>
              </p:ext>
            </p:extLst>
          </p:nvPr>
        </p:nvGraphicFramePr>
        <p:xfrm>
          <a:off x="384048" y="932688"/>
          <a:ext cx="31089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Google Keyword Focus</a:t>
                      </a:r>
                    </a:p>
                  </a:txBody>
                  <a:tcPr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Monthly Budget</a:t>
                      </a:r>
                    </a:p>
                  </a:txBody>
                  <a:tcPr>
                    <a:solidFill>
                      <a:srgbClr val="2E3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2E3440"/>
                          </a:solidFill>
                          <a:latin typeface="Calibri"/>
                        </a:rPr>
                        <a:t>Competitor Displacement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DA34A"/>
                          </a:solidFill>
                          <a:latin typeface="Calibri"/>
                        </a:rPr>
                        <a:t>~$900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3440"/>
                          </a:solidFill>
                          <a:latin typeface="Calibri"/>
                        </a:rPr>
                        <a:t>Industry / Use-Case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DA34A"/>
                          </a:solidFill>
                          <a:latin typeface="Calibri"/>
                        </a:rPr>
                        <a:t>~$1,000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3440"/>
                          </a:solidFill>
                          <a:latin typeface="Calibri"/>
                        </a:rPr>
                        <a:t>Authentication / Security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DA34A"/>
                          </a:solidFill>
                          <a:latin typeface="Calibri"/>
                        </a:rPr>
                        <a:t>~$600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3440"/>
                          </a:solidFill>
                          <a:latin typeface="Calibri"/>
                        </a:rPr>
                        <a:t>Flex API / Developer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DA34A"/>
                          </a:solidFill>
                          <a:latin typeface="Calibri"/>
                        </a:rPr>
                        <a:t>~$500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3440"/>
                          </a:solidFill>
                          <a:latin typeface="Calibri"/>
                        </a:rPr>
                        <a:t>RON — Institutional Only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6DA34A"/>
                          </a:solidFill>
                          <a:latin typeface="Calibri"/>
                        </a:rPr>
                        <a:t>~$300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749039" y="932688"/>
            <a:ext cx="4992624" cy="173736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49039" y="932688"/>
            <a:ext cx="41148" cy="1737360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58767" y="1060704"/>
            <a:ext cx="4809744" cy="105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6DA34A"/>
                </a:solidFill>
                <a:latin typeface="Calibri"/>
              </a:rPr>
              <a:t>LINKEDIN — FI AUDIENCE ($0)</a:t>
            </a:r>
          </a:p>
          <a:p>
            <a:pPr algn="l">
              <a:spcBef>
                <a:spcPts val="300"/>
              </a:spcBef>
            </a:pPr>
            <a:r>
              <a:rPr sz="1200" dirty="0">
                <a:solidFill>
                  <a:srgbClr val="545454"/>
                </a:solidFill>
                <a:latin typeface="Calibri"/>
              </a:rPr>
              <a:t>›  VP Operations, IT Director, Director of Lending, CCO</a:t>
            </a:r>
          </a:p>
          <a:p>
            <a:pPr algn="l">
              <a:spcBef>
                <a:spcPts val="300"/>
              </a:spcBef>
            </a:pPr>
            <a:r>
              <a:rPr sz="1200" dirty="0">
                <a:solidFill>
                  <a:srgbClr val="545454"/>
                </a:solidFill>
                <a:latin typeface="Calibri"/>
              </a:rPr>
              <a:t>›  Banks and credit unions — 50–5,000 employees</a:t>
            </a:r>
          </a:p>
          <a:p>
            <a:pPr algn="l">
              <a:spcBef>
                <a:spcPts val="300"/>
              </a:spcBef>
            </a:pPr>
            <a:r>
              <a:rPr sz="1200" dirty="0">
                <a:solidFill>
                  <a:srgbClr val="545454"/>
                </a:solidFill>
                <a:latin typeface="Calibri"/>
              </a:rPr>
              <a:t>›  Show them how </a:t>
            </a:r>
            <a:r>
              <a:rPr sz="1200" dirty="0" err="1">
                <a:solidFill>
                  <a:srgbClr val="545454"/>
                </a:solidFill>
                <a:latin typeface="Calibri"/>
              </a:rPr>
              <a:t>SIGNiX</a:t>
            </a:r>
            <a:r>
              <a:rPr sz="1200" dirty="0">
                <a:solidFill>
                  <a:srgbClr val="545454"/>
                </a:solidFill>
                <a:latin typeface="Calibri"/>
              </a:rPr>
              <a:t> stops fraud and proves compliance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2798064"/>
            <a:ext cx="4992624" cy="173736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749039" y="2798064"/>
            <a:ext cx="41148" cy="1737360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58767" y="2926080"/>
            <a:ext cx="4809744" cy="105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6DA34A"/>
                </a:solidFill>
                <a:latin typeface="Calibri"/>
              </a:rPr>
              <a:t>LINKEDIN — ISV / FLEX API ($0)</a:t>
            </a:r>
          </a:p>
          <a:p>
            <a:pPr algn="l">
              <a:spcBef>
                <a:spcPts val="300"/>
              </a:spcBef>
            </a:pPr>
            <a:r>
              <a:rPr sz="1200" dirty="0">
                <a:solidFill>
                  <a:srgbClr val="545454"/>
                </a:solidFill>
                <a:latin typeface="Calibri"/>
              </a:rPr>
              <a:t>›  Product Manager, VP of Product, CTO, VP Engineering</a:t>
            </a:r>
          </a:p>
          <a:p>
            <a:pPr algn="l">
              <a:spcBef>
                <a:spcPts val="300"/>
              </a:spcBef>
            </a:pPr>
            <a:r>
              <a:rPr sz="1200" dirty="0">
                <a:solidFill>
                  <a:srgbClr val="545454"/>
                </a:solidFill>
                <a:latin typeface="Calibri"/>
              </a:rPr>
              <a:t>›  Fintech, LOS platforms, banking software — 10–500 employees</a:t>
            </a:r>
          </a:p>
          <a:p>
            <a:pPr algn="l">
              <a:spcBef>
                <a:spcPts val="300"/>
              </a:spcBef>
            </a:pPr>
            <a:r>
              <a:rPr sz="1200" dirty="0">
                <a:solidFill>
                  <a:srgbClr val="545454"/>
                </a:solidFill>
                <a:latin typeface="Calibri"/>
              </a:rPr>
              <a:t>›  Show them a white-label API built for regulated industries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915</Words>
  <Application>Microsoft Macintosh PowerPoint</Application>
  <PresentationFormat>On-screen Show (16:9)</PresentationFormat>
  <Paragraphs>142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 Teague</cp:lastModifiedBy>
  <cp:revision>12</cp:revision>
  <dcterms:created xsi:type="dcterms:W3CDTF">2013-01-27T09:14:16Z</dcterms:created>
  <dcterms:modified xsi:type="dcterms:W3CDTF">2026-04-06T21:02:25Z</dcterms:modified>
  <cp:category/>
</cp:coreProperties>
</file>