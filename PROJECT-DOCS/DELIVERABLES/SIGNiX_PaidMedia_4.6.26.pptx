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93008" y="822960"/>
            <a:ext cx="64008" cy="6217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11880" y="786384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SIGNiX</a:t>
            </a:r>
          </a:p>
        </p:txBody>
      </p:sp>
      <p:sp>
        <p:nvSpPr>
          <p:cNvPr id="5" name="Rectangle 4"/>
          <p:cNvSpPr/>
          <p:nvPr/>
        </p:nvSpPr>
        <p:spPr>
          <a:xfrm>
            <a:off x="3493008" y="1517904"/>
            <a:ext cx="3657600" cy="20116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2026 Paid Media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42032"/>
            <a:ext cx="6400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DA34A"/>
                </a:solidFill>
                <a:latin typeface="Calibri"/>
              </a:rPr>
              <a:t>Updated April 6, 2026  ·  Rev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Chris  ·  Head of Growth and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STRATEGIC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3440"/>
                </a:solidFill>
                <a:latin typeface="Calibri"/>
              </a:rPr>
              <a:t>Notary Leads Cost More Than They Bring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914400"/>
            <a:ext cx="4133087" cy="3657600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914400"/>
            <a:ext cx="41148" cy="365760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042416"/>
            <a:ext cx="3950207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6DA34A"/>
                </a:solidFill>
                <a:latin typeface="Calibri"/>
              </a:rPr>
              <a:t>CURRENT STATE: THE PROBLEM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C8D0D8"/>
                </a:solidFill>
                <a:latin typeface="Calibri"/>
              </a:rPr>
              <a:t>›  Spend was concentrated on individual notary searches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C8D0D8"/>
                </a:solidFill>
                <a:latin typeface="Calibri"/>
              </a:rPr>
              <a:t>›  Low value per customer. High staff cost per deal.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C8D0D8"/>
                </a:solidFill>
                <a:latin typeface="Calibri"/>
              </a:rPr>
              <a:t>›  Each notary deal takes a sales rep and full CSM onboarding.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C8D0D8"/>
                </a:solidFill>
                <a:latin typeface="Calibri"/>
              </a:rPr>
              <a:t>›  Contribution margin per notary customer is near zero or negative.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C8D0D8"/>
                </a:solidFill>
                <a:latin typeface="Calibri"/>
              </a:rPr>
              <a:t>›  RON leads were the whole pipeline. That doesn't 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6864" y="914400"/>
            <a:ext cx="4133087" cy="36576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26864" y="914400"/>
            <a:ext cx="41148" cy="365760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042416"/>
            <a:ext cx="3950207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6DA34A"/>
                </a:solidFill>
                <a:latin typeface="Calibri"/>
              </a:rPr>
              <a:t>PROPOSED STATE: THE SHIFT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545454"/>
                </a:solidFill>
                <a:latin typeface="Calibri"/>
              </a:rPr>
              <a:t>›  Same $3,000/month. No budget increase.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545454"/>
                </a:solidFill>
                <a:latin typeface="Calibri"/>
              </a:rPr>
              <a:t>›  Three sectors: financial services / healthcare, wealth management, legal / debt collection.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545454"/>
                </a:solidFill>
                <a:latin typeface="Calibri"/>
              </a:rPr>
              <a:t>›  Every target sector has signing moments where ID Verify matters.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545454"/>
                </a:solidFill>
                <a:latin typeface="Calibri"/>
              </a:rPr>
              <a:t>›  Digital signature is legally stronger than a click — that's our story.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545454"/>
                </a:solidFill>
                <a:latin typeface="Calibri"/>
              </a:rPr>
              <a:t>›  Mortgage removed: too many barriers for new account acquisition.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BUDGET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3440"/>
                </a:solidFill>
                <a:latin typeface="Calibri"/>
              </a:rPr>
              <a:t>$3,000/Month — Google Only. LinkedIn Is Phase 2.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2560320" cy="260604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557016"/>
            <a:ext cx="2560320" cy="36576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1247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3440"/>
                </a:solidFill>
                <a:latin typeface="Calibri"/>
              </a:rPr>
              <a:t>$3,000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733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GOOGLE SEARCH ADS —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947672"/>
            <a:ext cx="23408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5454"/>
                </a:solidFill>
                <a:latin typeface="Calibri"/>
              </a:rPr>
              <a:t>Six keyword buckets: compliance/regulatory, authentication/fraud, wealth management, industry/use-case, competitor displacement, and RON institutional. Runs 8am–5pm EST Mon–Fri.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987552"/>
            <a:ext cx="2560320" cy="260604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557016"/>
            <a:ext cx="2560320" cy="36576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1247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3440"/>
                </a:solidFill>
                <a:latin typeface="Calibri"/>
              </a:rPr>
              <a:t>TBD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6733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LINKEDIN — 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1947672"/>
            <a:ext cx="23408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5454"/>
                </a:solidFill>
                <a:latin typeface="Calibri"/>
              </a:rPr>
              <a:t>On hold until 60-day Google review. Two planned audiences: FI ops/compliance leaders and ISV product teams. Launch target: June 2026.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987552"/>
            <a:ext cx="2560320" cy="260604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557016"/>
            <a:ext cx="2560320" cy="36576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1247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3440"/>
                </a:solidFill>
                <a:latin typeface="Calibri"/>
              </a:rPr>
              <a:t>60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6733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FIRST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1947672"/>
            <a:ext cx="23408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5454"/>
                </a:solidFill>
                <a:latin typeface="Calibri"/>
              </a:rPr>
              <a:t>CPL by bucket, CTR, lead qualification rate, and pipeline sourced in HubSpot. Lagging indicators (ACV, deals closed) carry a 90–180 day lag.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703320"/>
            <a:ext cx="7955279" cy="694944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703320"/>
            <a:ext cx="41148" cy="694944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813048"/>
            <a:ext cx="7726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3440"/>
                </a:solidFill>
                <a:latin typeface="Calibri"/>
              </a:rPr>
              <a:t>No budget increase needed.  </a:t>
            </a:r>
            <a:r>
              <a:rPr sz="1050" b="0" i="0">
                <a:solidFill>
                  <a:srgbClr val="545454"/>
                </a:solidFill>
                <a:latin typeface="Calibri"/>
              </a:rPr>
              <a:t>We are moving existing spend, not adding to it. Notary keywords stop right away. RON stays at $100/month for institutional buyers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BUDGET &amp; KEYWORDS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3440"/>
                </a:solidFill>
                <a:latin typeface="Calibri"/>
              </a:rPr>
              <a:t>$3,000/Month Google — Six Keyword Buckets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932688"/>
          <a:ext cx="39776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Google Bucket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Alloc.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Top Keywords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Compliance / Regulatory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DA34A"/>
                          </a:solidFill>
                          <a:latin typeface="Calibri"/>
                        </a:rPr>
                        <a:t>~$400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SEC 17a-4 e-signature, FINRA digital signature, electronic recordkeeping broker dealer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Authentication /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DA34A"/>
                          </a:solidFill>
                          <a:latin typeface="Calibri"/>
                        </a:rPr>
                        <a:t>~$500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identity verification e-signature, verified electronic signature, e-sig fraud prevention banking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Wealth Management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DA34A"/>
                          </a:solidFill>
                          <a:latin typeface="Calibri"/>
                        </a:rPr>
                        <a:t>~$700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beneficiary change form, power of attorney e-signature, investment account opening signature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Industry / Use-Case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DA34A"/>
                          </a:solidFill>
                          <a:latin typeface="Calibri"/>
                        </a:rPr>
                        <a:t>~$800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HIPAA compliant e-signature, FDCPA compliant e-signature, wire transfer authorization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Competitor Displacement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DA34A"/>
                          </a:solidFill>
                          <a:latin typeface="Calibri"/>
                        </a:rPr>
                        <a:t>~$200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Docusign competitors, Docusign alternatives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RON Institutional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DA34A"/>
                          </a:solidFill>
                          <a:latin typeface="Calibri"/>
                        </a:rPr>
                        <a:t>~$100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RON platform compliance, remote online notary for banks — individual notary terms dropped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0" y="932688"/>
            <a:ext cx="4169663" cy="173736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932688"/>
            <a:ext cx="41148" cy="173736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060704"/>
            <a:ext cx="3986783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6DA34A"/>
                </a:solidFill>
                <a:latin typeface="Calibri"/>
              </a:rPr>
              <a:t>MESSAGE FRAMEWORK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545454"/>
                </a:solidFill>
                <a:latin typeface="Calibri"/>
              </a:rPr>
              <a:t>›  Fear-first: 'Can you prove who signed?'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545454"/>
                </a:solidFill>
                <a:latin typeface="Calibri"/>
              </a:rPr>
              <a:t>›  Partnership close: 'We assign a CSM who knows your workflows.'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545454"/>
                </a:solidFill>
                <a:latin typeface="Calibri"/>
              </a:rPr>
              <a:t>›  Never lead with features: Lead with the consequence of not having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798064"/>
            <a:ext cx="4169663" cy="173736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798064"/>
            <a:ext cx="41148" cy="173736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926080"/>
            <a:ext cx="3986783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6DA34A"/>
                </a:solidFill>
                <a:latin typeface="Calibri"/>
              </a:rPr>
              <a:t>AD SCHEDULING + PHASE 2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545454"/>
                </a:solidFill>
                <a:latin typeface="Calibri"/>
              </a:rPr>
              <a:t>›  Ads run 8am–5pm EST, Mon–Fri only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545454"/>
                </a:solidFill>
                <a:latin typeface="Calibri"/>
              </a:rPr>
              <a:t>›  Leads arrive when someone can follow up same day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545454"/>
                </a:solidFill>
                <a:latin typeface="Calibri"/>
              </a:rPr>
              <a:t>›  LinkedIn added in Phase 2 after 60-day Google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KEYWORD TESTING RESULTS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3440"/>
                </a:solidFill>
                <a:latin typeface="Calibri"/>
              </a:rPr>
              <a:t>What We Kept, What We Cut,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3268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REMOVED KEYWORDS — ZERO SEARCH VOLUME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133856"/>
            <a:ext cx="4114800" cy="1524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188720"/>
          <a:ext cx="39776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20574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Keyword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Vol/Mo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Reason Removed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E3440"/>
                          </a:solidFill>
                          <a:latin typeface="Calibri"/>
                        </a:rPr>
                        <a:t>docusign alternative for banks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Sector-specific — no one searches this phrase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E3440"/>
                          </a:solidFill>
                          <a:latin typeface="Calibri"/>
                        </a:rPr>
                        <a:t>adobe sign alternative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Sector-specific — zero volume 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E3440"/>
                          </a:solidFill>
                          <a:latin typeface="Calibri"/>
                        </a:rPr>
                        <a:t>sec 17a-4 e-signature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Too specific; exam-triggered buyers use other paths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E3440"/>
                          </a:solidFill>
                          <a:latin typeface="Calibri"/>
                        </a:rPr>
                        <a:t>finra digital signature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Compliance buyers don't search this term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E3440"/>
                          </a:solidFill>
                          <a:latin typeface="Calibri"/>
                        </a:rPr>
                        <a:t>electronic recordkeeping broker dealer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Industry jargon — not how buyers search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E3440"/>
                          </a:solidFill>
                          <a:latin typeface="Calibri"/>
                        </a:rPr>
                        <a:t>ron platform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Too niche as a search phrase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E3440"/>
                          </a:solidFill>
                          <a:latin typeface="Calibri"/>
                        </a:rPr>
                        <a:t>remote online notary for banks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Zero volume — replaced with broader terms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E3440"/>
                          </a:solidFill>
                          <a:latin typeface="Calibri"/>
                        </a:rPr>
                        <a:t>e signature for banks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C039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Dying term — down 75% year over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E3440"/>
                          </a:solidFill>
                          <a:latin typeface="Calibri"/>
                        </a:rPr>
                        <a:t>digital signature mortgage docs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Zero volume + mortgage sector removed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E3440"/>
                          </a:solidFill>
                          <a:latin typeface="Calibri"/>
                        </a:rPr>
                        <a:t>e signature rollover forms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Buyers search document type, not signing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E3440"/>
                          </a:solidFill>
                          <a:latin typeface="Calibri"/>
                        </a:rPr>
                        <a:t>ira distribution e sign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Industry shorthand — not how buyers search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E3440"/>
                          </a:solidFill>
                          <a:latin typeface="Calibri"/>
                        </a:rPr>
                        <a:t>kba electronic signature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KBA is internal jargon; buyers don't know the acronym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E3440"/>
                          </a:solidFill>
                          <a:latin typeface="Calibri"/>
                        </a:rPr>
                        <a:t>e signature identity verification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Wrong word order — replaced with correct phrasing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E3440"/>
                          </a:solidFill>
                          <a:latin typeface="Calibri"/>
                        </a:rPr>
                        <a:t>ai fraud e signature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No search behavior yet. Re-test Q3 2026.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E3440"/>
                          </a:solidFill>
                          <a:latin typeface="Calibri"/>
                        </a:rPr>
                        <a:t>ron platform financial institutions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Original RON term — zero volume confirmed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84048" y="4553712"/>
            <a:ext cx="3977639" cy="25603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4553712"/>
            <a:ext cx="41148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459943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2E3440"/>
                </a:solidFill>
                <a:latin typeface="Calibri"/>
              </a:rPr>
              <a:t>Also excluded — wrong buyer signal:  </a:t>
            </a:r>
            <a:r>
              <a:rPr sz="750" b="0" i="0">
                <a:solidFill>
                  <a:srgbClr val="6B7280"/>
                </a:solidFill>
                <a:latin typeface="Calibri"/>
              </a:rPr>
              <a:t>free/cheap DocuSign variants (4 terms, 1,900+ searches). Price-sensitive buyers. Not SIGNiX's customer.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93268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VALIDATED ANCHOR TERMS (GOOGLE KEYWORD PLANNER CONFIRMED)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133856"/>
            <a:ext cx="4114800" cy="1524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1207008"/>
            <a:ext cx="4114800" cy="80467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207008"/>
            <a:ext cx="41148" cy="80467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1280160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440"/>
                </a:solidFill>
                <a:latin typeface="Calibri"/>
              </a:rPr>
              <a:t>beneficiary change 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481328"/>
            <a:ext cx="3977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6DA34A"/>
                </a:solidFill>
                <a:latin typeface="Calibri"/>
              </a:rPr>
              <a:t>390/mo  </a:t>
            </a:r>
            <a:r>
              <a:rPr sz="800" b="0" i="0">
                <a:solidFill>
                  <a:srgbClr val="545454"/>
                </a:solidFill>
                <a:latin typeface="Calibri"/>
              </a:rPr>
              <a:t>+50% YoY  ·  +23% last 3 mo   </a:t>
            </a:r>
            <a:r>
              <a:rPr sz="800" b="0" i="0">
                <a:solidFill>
                  <a:srgbClr val="6B7280"/>
                </a:solidFill>
                <a:latin typeface="Calibri"/>
              </a:rPr>
              <a:t>CPC $1.02–$3.93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682496"/>
            <a:ext cx="3977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Best ROI keyword in the plan. Low competition. High ID-Verify moment.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103120"/>
            <a:ext cx="4114800" cy="80467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2103120"/>
            <a:ext cx="41148" cy="80467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2176272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440"/>
                </a:solidFill>
                <a:latin typeface="Calibri"/>
              </a:rPr>
              <a:t>HIPAA compliant e-signature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377440"/>
            <a:ext cx="3977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6DA34A"/>
                </a:solidFill>
                <a:latin typeface="Calibri"/>
              </a:rPr>
              <a:t>210/mo  </a:t>
            </a:r>
            <a:r>
              <a:rPr sz="800" b="0" i="0">
                <a:solidFill>
                  <a:srgbClr val="545454"/>
                </a:solidFill>
                <a:latin typeface="Calibri"/>
              </a:rPr>
              <a:t>+191% last 3 mo  ·  +52% YoY   </a:t>
            </a:r>
            <a:r>
              <a:rPr sz="800" b="0" i="0">
                <a:solidFill>
                  <a:srgbClr val="6B7280"/>
                </a:solidFill>
                <a:latin typeface="Calibri"/>
              </a:rPr>
              <a:t>CPC $11.07–$53.94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578608"/>
            <a:ext cx="3977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Fastest-growing term in the plan. Already in account. Healthcare anchor.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999231"/>
            <a:ext cx="4114800" cy="80467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2999231"/>
            <a:ext cx="41148" cy="80467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3072383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440"/>
                </a:solidFill>
                <a:latin typeface="Calibri"/>
              </a:rPr>
              <a:t>docusign competitors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273551"/>
            <a:ext cx="3977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6DA34A"/>
                </a:solidFill>
                <a:latin typeface="Calibri"/>
              </a:rPr>
              <a:t>1,000/mo  </a:t>
            </a:r>
            <a:r>
              <a:rPr sz="800" b="0" i="0">
                <a:solidFill>
                  <a:srgbClr val="545454"/>
                </a:solidFill>
                <a:latin typeface="Calibri"/>
              </a:rPr>
              <a:t>–32% YoY  ·  flat 3-mo   </a:t>
            </a:r>
            <a:r>
              <a:rPr sz="800" b="0" i="0">
                <a:solidFill>
                  <a:srgbClr val="6B7280"/>
                </a:solidFill>
                <a:latin typeface="Calibri"/>
              </a:rPr>
              <a:t>CPC $13.00–$68.14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474719"/>
            <a:ext cx="3977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Best intent term in competitor displacement. Already in account.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895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REVISED ALLOCATION — BASED ON VOLUME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4096512"/>
            <a:ext cx="4114800" cy="1524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663440" y="4151376"/>
          <a:ext cx="411480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18810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</a:tr>
              <a:tr h="18810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E3440"/>
                          </a:solidFill>
                          <a:latin typeface="Calibri"/>
                        </a:rPr>
                        <a:t>Compliance / Regulatory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6DA34A"/>
                          </a:solidFill>
                          <a:latin typeface="Calibri"/>
                        </a:rPr>
                        <a:t>~$400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Reduced — zero volume; keep for rare high-intent searches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18810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E3440"/>
                          </a:solidFill>
                          <a:latin typeface="Calibri"/>
                        </a:rPr>
                        <a:t>Authentication /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6DA34A"/>
                          </a:solidFill>
                          <a:latin typeface="Calibri"/>
                        </a:rPr>
                        <a:t>~$500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Reduced — testing new workflow-specific terms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810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E3440"/>
                          </a:solidFill>
                          <a:latin typeface="Calibri"/>
                        </a:rPr>
                        <a:t>Wealth Management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6DA34A"/>
                          </a:solidFill>
                          <a:latin typeface="Calibri"/>
                        </a:rPr>
                        <a:t>~$700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Increased — anchored by beneficiary change form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18810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E3440"/>
                          </a:solidFill>
                          <a:latin typeface="Calibri"/>
                        </a:rPr>
                        <a:t>Industry / Use-Case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6DA34A"/>
                          </a:solidFill>
                          <a:latin typeface="Calibri"/>
                        </a:rPr>
                        <a:t>~$800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Increased — HIPAA growing; Legal/Debt Collection added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810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E3440"/>
                          </a:solidFill>
                          <a:latin typeface="Calibri"/>
                        </a:rPr>
                        <a:t>Competitor Displacement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6DA34A"/>
                          </a:solidFill>
                          <a:latin typeface="Calibri"/>
                        </a:rPr>
                        <a:t>~$200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Reduced — only 2 viable terms remain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188106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E3440"/>
                          </a:solidFill>
                          <a:latin typeface="Calibri"/>
                        </a:rPr>
                        <a:t>RON Institutional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6DA34A"/>
                          </a:solidFill>
                          <a:latin typeface="Calibri"/>
                        </a:rPr>
                        <a:t>~$100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6B7280"/>
                          </a:solidFill>
                          <a:latin typeface="Calibri"/>
                        </a:rPr>
                        <a:t>Hold — maintenance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3440"/>
                </a:solidFill>
                <a:latin typeface="Calibri"/>
              </a:rPr>
              <a:t>60-Day Leading Signals  ·  90-Day Revenue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14400"/>
            <a:ext cx="4005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LEADING INDICATORS — WEEKLY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115568"/>
            <a:ext cx="4005072" cy="1905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225296"/>
            <a:ext cx="475488" cy="201168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220724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170432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Impression share above 40% on top keyword buckets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1593850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1655064"/>
            <a:ext cx="475488" cy="201168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650492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600200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CTR above 3–6% on B2B search campaigns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023618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084832"/>
            <a:ext cx="475488" cy="201168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080260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02996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Landing page bounce rate below 60%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2453386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2514600"/>
            <a:ext cx="475488" cy="201168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510028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459736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Form fill / demo request rate above 2% of paid clicks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2883154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2944368"/>
            <a:ext cx="475488" cy="201168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2939796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889504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More than 40% of leads match our target buyer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3312922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3374136"/>
            <a:ext cx="475488" cy="201168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3369564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319272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Lead to first sales touchpoint in under 48 hours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3742690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914400"/>
            <a:ext cx="4005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LAGGING INDICATORS — MONTHLY / QUARTERLY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1115568"/>
            <a:ext cx="4005072" cy="1905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54880" y="1225296"/>
            <a:ext cx="475488" cy="201168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1220724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5232" y="1170432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Cost per qualified lead (CPL) by bucket — which one works best?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1593850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54880" y="1655064"/>
            <a:ext cx="475488" cy="201168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1650492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85232" y="1600200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MQLs per month — is pipeline building?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2023618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54880" y="2084832"/>
            <a:ext cx="475488" cy="201168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0" y="2080260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85232" y="202996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Sales-accepted leads (SALs) — did the team agree they were good?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0" y="2453386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754880" y="2514600"/>
            <a:ext cx="475488" cy="201168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0" y="2510028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85232" y="2459736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Pipeline sourced ($) attributed in HubSpot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2883154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754880" y="2944368"/>
            <a:ext cx="475488" cy="201168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80" y="2939796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85232" y="2889504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Average deal ACV vs. notary lead ACV baseline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80" y="3312922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54880" y="3374136"/>
            <a:ext cx="475488" cy="201168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0" y="3369564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85232" y="3319272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Transaction volume from new paid-sourced customers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54880" y="3742690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