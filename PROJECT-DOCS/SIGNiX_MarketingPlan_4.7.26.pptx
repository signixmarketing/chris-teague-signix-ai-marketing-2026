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93008" y="822960"/>
            <a:ext cx="64008" cy="6217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11880" y="786384"/>
            <a:ext cx="3657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SIGNiX</a:t>
            </a:r>
          </a:p>
        </p:txBody>
      </p:sp>
      <p:sp>
        <p:nvSpPr>
          <p:cNvPr id="5" name="Rectangle 4"/>
          <p:cNvSpPr/>
          <p:nvPr/>
        </p:nvSpPr>
        <p:spPr>
          <a:xfrm>
            <a:off x="3493008" y="1517904"/>
            <a:ext cx="3657600" cy="20116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19072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2026 Marketing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6400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DA34A"/>
                </a:solidFill>
                <a:latin typeface="Calibri"/>
              </a:rPr>
              <a:t>A focused plan to grow transaction volume and win new accounts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72384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Chris Teague  |  Head of Growth and Marketing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"/>
            <a:ext cx="7955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DA34A"/>
                </a:solidFill>
                <a:latin typeface="Calibri"/>
              </a:rPr>
              <a:t>STRATEGIC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83464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3440"/>
                </a:solidFill>
                <a:latin typeface="Calibri"/>
              </a:rPr>
              <a:t>Two Strategies. One Growth Plan.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722876"/>
            <a:ext cx="9144000" cy="9525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80" y="48143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E3440"/>
                </a:solidFill>
                <a:latin typeface="Calibri"/>
              </a:rPr>
              <a:t>SIGNiX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4850892"/>
            <a:ext cx="50292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932688"/>
            <a:ext cx="4005072" cy="3566160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932688"/>
            <a:ext cx="41148" cy="3566160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3749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6DA34A"/>
                </a:solidFill>
                <a:latin typeface="Calibri"/>
              </a:rPr>
              <a:t>DEPTH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55648"/>
            <a:ext cx="3749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0D8"/>
                </a:solidFill>
                <a:latin typeface="Calibri"/>
              </a:rPr>
              <a:t>Get more from the customers we already have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029968"/>
            <a:ext cx="3749040" cy="9525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121408"/>
            <a:ext cx="374904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950">
                <a:solidFill>
                  <a:srgbClr val="C8D0D8"/>
                </a:solidFill>
                <a:latin typeface="Calibri"/>
              </a:rPr>
              <a:t>›  Many TruStage FIs have SIGNiX available but use zero authentications. That is revenue we have not captured yet.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C8D0D8"/>
                </a:solidFill>
                <a:latin typeface="Calibri"/>
              </a:rPr>
              <a:t>›  Mike's fraud email and the TruStage CSM brief turn awareness into discovery calls.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C8D0D8"/>
                </a:solidFill>
                <a:latin typeface="Calibri"/>
              </a:rPr>
              <a:t>›  Goal: turn low-activity FI accounts into regular authentication users.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932688"/>
            <a:ext cx="4005072" cy="356616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932688"/>
            <a:ext cx="41148" cy="3566160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1097280"/>
            <a:ext cx="3749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2E3440"/>
                </a:solidFill>
                <a:latin typeface="Calibri"/>
              </a:rPr>
              <a:t>WIDTH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1755648"/>
            <a:ext cx="3749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45454"/>
                </a:solidFill>
                <a:latin typeface="Calibri"/>
              </a:rPr>
              <a:t>Win new accounts in segments where we have a clear edge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19472" y="2029968"/>
            <a:ext cx="3749040" cy="9525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9472" y="2121408"/>
            <a:ext cx="374904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950">
                <a:solidFill>
                  <a:srgbClr val="545454"/>
                </a:solidFill>
                <a:latin typeface="Calibri"/>
              </a:rPr>
              <a:t>›  We target five segments where a regulator or court requires signatures that hold up as verified proof.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545454"/>
                </a:solidFill>
                <a:latin typeface="Calibri"/>
              </a:rPr>
              <a:t>›  Google Ads, ABM, and integration partners like Gannett and Convoke are our three growth channels.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545454"/>
                </a:solidFill>
                <a:latin typeface="Calibri"/>
              </a:rPr>
              <a:t>›  Goal: new transaction volume from new accounts and partners by Q3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"/>
            <a:ext cx="7955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DA34A"/>
                </a:solidFill>
                <a:latin typeface="Calibri"/>
              </a:rPr>
              <a:t>TARGET AUDIENCES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83464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3440"/>
                </a:solidFill>
                <a:latin typeface="Calibri"/>
              </a:rPr>
              <a:t>We Win Where Signatures Have to Stand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722876"/>
            <a:ext cx="9144000" cy="9525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80" y="48143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E3440"/>
                </a:solidFill>
                <a:latin typeface="Calibri"/>
              </a:rPr>
              <a:t>SIGNiX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4850892"/>
            <a:ext cx="50292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932688"/>
          <a:ext cx="749808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60"/>
                <a:gridCol w="2499360"/>
                <a:gridCol w="2499360"/>
              </a:tblGrid>
              <a:tr h="60198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Examples</a:t>
                      </a:r>
                    </a:p>
                  </a:txBody>
                  <a:tcPr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What Drives the Move to SIGNiX</a:t>
                      </a:r>
                    </a:p>
                  </a:txBody>
                  <a:tcPr>
                    <a:solidFill>
                      <a:srgbClr val="2E3440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E3440"/>
                          </a:solidFill>
                          <a:latin typeface="Calibri"/>
                        </a:rPr>
                        <a:t>Wealth Management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45454"/>
                          </a:solidFill>
                          <a:latin typeface="Calibri"/>
                        </a:rPr>
                        <a:t>Pershing, Osaic, Docupace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45454"/>
                          </a:solidFill>
                          <a:latin typeface="Calibri"/>
                        </a:rPr>
                        <a:t>Documents must hold up under FINRA and SEC review. A disputed wire or transfer that standard e-sign cannot defend.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E3440"/>
                          </a:solidFill>
                          <a:latin typeface="Calibri"/>
                        </a:rPr>
                        <a:t>Credit Unions and Banks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45454"/>
                          </a:solidFill>
                          <a:latin typeface="Calibri"/>
                        </a:rPr>
                        <a:t>TruStage FI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45454"/>
                          </a:solidFill>
                          <a:latin typeface="Calibri"/>
                        </a:rPr>
                        <a:t>ID Verify proves who signed every loan document. A fraud case where a member denies signing triggers the switch.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E3440"/>
                          </a:solidFill>
                          <a:latin typeface="Calibri"/>
                        </a:rPr>
                        <a:t>Debt Buyers and Servicers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45454"/>
                          </a:solidFill>
                          <a:latin typeface="Calibri"/>
                        </a:rPr>
                        <a:t>Cavalry, InvestiNet, Convoke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45454"/>
                          </a:solidFill>
                          <a:latin typeface="Calibri"/>
                        </a:rPr>
                        <a:t>Chain of title and payment agreements must hold up in court. A challenged collection agreement drives the conversation.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E3440"/>
                          </a:solidFill>
                          <a:latin typeface="Calibri"/>
                        </a:rPr>
                        <a:t>Media and Legal Publishers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45454"/>
                          </a:solidFill>
                          <a:latin typeface="Calibri"/>
                        </a:rPr>
                        <a:t>Advance Local, Gannett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45454"/>
                          </a:solidFill>
                          <a:latin typeface="Calibri"/>
                        </a:rPr>
                        <a:t>Legal notices require notarization by state law. DocuSign and Adobe cannot do Remote Online Notary. SIGNiX can.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2E3440"/>
                          </a:solidFill>
                          <a:latin typeface="Calibri"/>
                        </a:rPr>
                        <a:t>Software Partners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45454"/>
                          </a:solidFill>
                          <a:latin typeface="Calibri"/>
                        </a:rPr>
                        <a:t>Docupace, Convoke, Lineup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45454"/>
                          </a:solidFill>
                          <a:latin typeface="Calibri"/>
                        </a:rPr>
                        <a:t>Clients are asking for stronger identity proof than click-to-sign. SIGNiX gives partners a compliance-grade option competitors cannot match.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"/>
            <a:ext cx="7955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DA34A"/>
                </a:solidFill>
                <a:latin typeface="Calibri"/>
              </a:rPr>
              <a:t>WHO WE 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83464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3440"/>
                </a:solidFill>
                <a:latin typeface="Calibri"/>
              </a:rPr>
              <a:t>Four Audiences. One Growth Strategy.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722876"/>
            <a:ext cx="9144000" cy="9525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80" y="48143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E3440"/>
                </a:solidFill>
                <a:latin typeface="Calibri"/>
              </a:rPr>
              <a:t>SIGNiX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4850892"/>
            <a:ext cx="50292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1508760" y="1700784"/>
            <a:ext cx="3063240" cy="1097280"/>
          </a:xfrm>
          <a:prstGeom prst="line">
            <a:avLst/>
          </a:prstGeom>
          <a:ln w="19050">
            <a:solidFill>
              <a:srgbClr val="D8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572000" y="1700784"/>
            <a:ext cx="3063240" cy="1097280"/>
          </a:xfrm>
          <a:prstGeom prst="line">
            <a:avLst/>
          </a:prstGeom>
          <a:ln w="19050">
            <a:solidFill>
              <a:srgbClr val="D8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508760" y="2798064"/>
            <a:ext cx="3063240" cy="1097280"/>
          </a:xfrm>
          <a:prstGeom prst="line">
            <a:avLst/>
          </a:prstGeom>
          <a:ln w="19050">
            <a:solidFill>
              <a:srgbClr val="D8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0" y="2798064"/>
            <a:ext cx="3063240" cy="1097280"/>
          </a:xfrm>
          <a:prstGeom prst="line">
            <a:avLst/>
          </a:prstGeom>
          <a:ln w="19050">
            <a:solidFill>
              <a:srgbClr val="D8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822191" y="2176272"/>
            <a:ext cx="1499616" cy="1243584"/>
          </a:xfrm>
          <a:prstGeom prst="ellipse">
            <a:avLst/>
          </a:prstGeom>
          <a:solidFill>
            <a:srgbClr val="F8FAFB"/>
          </a:solidFill>
          <a:ln w="12700"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0208" y="2267712"/>
            <a:ext cx="1243584" cy="1060704"/>
          </a:xfrm>
          <a:prstGeom prst="ellipse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0208" y="2350008"/>
            <a:ext cx="1243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SIGNiX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0208" y="2706624"/>
            <a:ext cx="1243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8D0D8"/>
                </a:solidFill>
                <a:latin typeface="Calibri"/>
              </a:rPr>
              <a:t>Flex API and MyDox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143000"/>
            <a:ext cx="2103120" cy="1115568"/>
          </a:xfrm>
          <a:prstGeom prst="roundRect">
            <a:avLst/>
          </a:prstGeom>
          <a:solidFill>
            <a:srgbClr val="F8FAFB"/>
          </a:solidFill>
          <a:ln w="19050">
            <a:solidFill>
              <a:srgbClr val="6D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143000"/>
            <a:ext cx="2103120" cy="54864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12161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6DA34A"/>
                </a:solidFill>
                <a:latin typeface="Calibri"/>
              </a:rPr>
              <a:t>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1252728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440"/>
                </a:solidFill>
                <a:latin typeface="Calibri"/>
              </a:rPr>
              <a:t>Wealth Management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1618488"/>
            <a:ext cx="190195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1673352"/>
            <a:ext cx="19019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45454"/>
                </a:solidFill>
                <a:latin typeface="Calibri"/>
              </a:rPr>
              <a:t>Turn on ID verification for every client document.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1143000"/>
            <a:ext cx="2103120" cy="1115568"/>
          </a:xfrm>
          <a:prstGeom prst="roundRect">
            <a:avLst/>
          </a:prstGeom>
          <a:solidFill>
            <a:srgbClr val="F8FAFB"/>
          </a:solidFill>
          <a:ln w="19050">
            <a:solidFill>
              <a:srgbClr val="6D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0" y="1143000"/>
            <a:ext cx="2103120" cy="54864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8" y="12161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6DA34A"/>
                </a:solidFill>
                <a:latin typeface="Calibri"/>
              </a:rPr>
              <a:t>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7456" y="1252728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440"/>
                </a:solidFill>
                <a:latin typeface="Calibri"/>
              </a:rPr>
              <a:t>Credit Unions and Banks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93408" y="1618488"/>
            <a:ext cx="190195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93408" y="1673352"/>
            <a:ext cx="19019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45454"/>
                </a:solidFill>
                <a:latin typeface="Calibri"/>
              </a:rPr>
              <a:t>Add authentication to every loan signing event.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337560"/>
            <a:ext cx="2103120" cy="1115568"/>
          </a:xfrm>
          <a:prstGeom prst="roundRect">
            <a:avLst/>
          </a:prstGeom>
          <a:solidFill>
            <a:srgbClr val="F8FAFB"/>
          </a:solidFill>
          <a:ln w="19050">
            <a:solidFill>
              <a:srgbClr val="6D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337560"/>
            <a:ext cx="2103120" cy="54864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34107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6DA34A"/>
                </a:solidFill>
                <a:latin typeface="Calibri"/>
              </a:rPr>
              <a:t>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" y="3447288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440"/>
                </a:solidFill>
                <a:latin typeface="Calibri"/>
              </a:rPr>
              <a:t>Debt, Legal and Media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813048"/>
            <a:ext cx="190195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867912"/>
            <a:ext cx="19019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45454"/>
                </a:solidFill>
                <a:latin typeface="Calibri"/>
              </a:rPr>
              <a:t>Use RON for any legal notice that needs notarizing.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3337560"/>
            <a:ext cx="2103120" cy="1115568"/>
          </a:xfrm>
          <a:prstGeom prst="roundRect">
            <a:avLst/>
          </a:prstGeom>
          <a:solidFill>
            <a:srgbClr val="F8FAFB"/>
          </a:solidFill>
          <a:ln w="19050">
            <a:solidFill>
              <a:srgbClr val="6D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0" y="3337560"/>
            <a:ext cx="2103120" cy="54864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93408" y="34107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6DA34A"/>
                </a:solidFill>
                <a:latin typeface="Calibri"/>
              </a:rPr>
              <a:t>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77456" y="3447288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3440"/>
                </a:solidFill>
                <a:latin typeface="Calibri"/>
              </a:rPr>
              <a:t>Integration Partners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93408" y="3813048"/>
            <a:ext cx="1901952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93408" y="3867912"/>
            <a:ext cx="19019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45454"/>
                </a:solidFill>
                <a:latin typeface="Calibri"/>
              </a:rPr>
              <a:t>Embed SIGNiX as the compliance-grade option in your platform.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"/>
            <a:ext cx="7955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DA34A"/>
                </a:solidFill>
                <a:latin typeface="Calibri"/>
              </a:rPr>
              <a:t>ACTIVE INITIATIVES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83464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3440"/>
                </a:solidFill>
                <a:latin typeface="Calibri"/>
              </a:rPr>
              <a:t>Six Things We Are Running Right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722876"/>
            <a:ext cx="9144000" cy="9525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80" y="48143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E3440"/>
                </a:solidFill>
                <a:latin typeface="Calibri"/>
              </a:rPr>
              <a:t>SIGNiX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4850892"/>
            <a:ext cx="50292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932688"/>
            <a:ext cx="2679192" cy="178308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932688"/>
            <a:ext cx="2679192" cy="91440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50008" y="1024128"/>
            <a:ext cx="6583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400" b="1" i="0">
                <a:solidFill>
                  <a:srgbClr val="D8DEE9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097280"/>
            <a:ext cx="1856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3440"/>
                </a:solidFill>
                <a:latin typeface="Calibri"/>
              </a:rPr>
              <a:t>Google 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389888"/>
            <a:ext cx="2478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Width: attract new accounts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1600200"/>
            <a:ext cx="2423160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1636776"/>
            <a:ext cx="2478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5454"/>
                </a:solidFill>
                <a:latin typeface="Calibri"/>
              </a:rPr>
              <a:t>19 validated keywords across 3 sectors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" y="2441448"/>
            <a:ext cx="50292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404872"/>
            <a:ext cx="2350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DA34A"/>
                </a:solidFill>
                <a:latin typeface="Calibri"/>
              </a:rPr>
              <a:t>Active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32404" y="932688"/>
            <a:ext cx="2679192" cy="178308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32404" y="932688"/>
            <a:ext cx="2679192" cy="9144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8364" y="1024128"/>
            <a:ext cx="6583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400" b="1" i="0">
                <a:solidFill>
                  <a:srgbClr val="D8DEE9"/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0420" y="1097280"/>
            <a:ext cx="1856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3440"/>
                </a:solidFill>
                <a:latin typeface="Calibri"/>
              </a:rPr>
              <a:t>ABM Scorecard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0420" y="1389888"/>
            <a:ext cx="2478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Width: earn share in key segments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60420" y="1600200"/>
            <a:ext cx="2423160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60420" y="1636776"/>
            <a:ext cx="2478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5454"/>
                </a:solidFill>
                <a:latin typeface="Calibri"/>
              </a:rPr>
              <a:t>35 named accounts, rollout ready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60420" y="2441448"/>
            <a:ext cx="50292" cy="5029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51860" y="2404872"/>
            <a:ext cx="2350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Built, rollout pending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932688"/>
            <a:ext cx="2679192" cy="178308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80760" y="932688"/>
            <a:ext cx="2679192" cy="9144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1024128"/>
            <a:ext cx="6583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400" b="1" i="0">
                <a:solidFill>
                  <a:srgbClr val="D8DEE9"/>
                </a:solidFill>
                <a:latin typeface="Calibr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8776" y="1097280"/>
            <a:ext cx="1856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3440"/>
                </a:solidFill>
                <a:latin typeface="Calibri"/>
              </a:rPr>
              <a:t>Authentication Activation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8776" y="1389888"/>
            <a:ext cx="2478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Depth: more revenue from existing FIs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08776" y="1600200"/>
            <a:ext cx="2423160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08776" y="1636776"/>
            <a:ext cx="2478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5454"/>
                </a:solidFill>
                <a:latin typeface="Calibri"/>
              </a:rPr>
              <a:t>TruStage FI network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08776" y="2441448"/>
            <a:ext cx="50292" cy="5029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0216" y="2404872"/>
            <a:ext cx="2350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CTO data request pending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" y="2843784"/>
            <a:ext cx="2679192" cy="178308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4048" y="2843784"/>
            <a:ext cx="2679192" cy="91440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50008" y="2935224"/>
            <a:ext cx="6583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400" b="1" i="0">
                <a:solidFill>
                  <a:srgbClr val="D8DEE9"/>
                </a:solidFill>
                <a:latin typeface="Calibri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" y="3008376"/>
            <a:ext cx="1856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3440"/>
                </a:solidFill>
                <a:latin typeface="Calibri"/>
              </a:rPr>
              <a:t>Mike Fraud Email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" y="3300984"/>
            <a:ext cx="2478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Depth: keep SIGNiX visible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064" y="3511296"/>
            <a:ext cx="2423160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" y="3547872"/>
            <a:ext cx="2478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5454"/>
                </a:solidFill>
                <a:latin typeface="Calibri"/>
              </a:rPr>
              <a:t>Monthly send, March complete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" y="4352544"/>
            <a:ext cx="50292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" y="4315968"/>
            <a:ext cx="2350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DA34A"/>
                </a:solidFill>
                <a:latin typeface="Calibri"/>
              </a:rPr>
              <a:t>Active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32404" y="2843784"/>
            <a:ext cx="2679192" cy="178308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32404" y="2843784"/>
            <a:ext cx="2679192" cy="91440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98364" y="2935224"/>
            <a:ext cx="6583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400" b="1" i="0">
                <a:solidFill>
                  <a:srgbClr val="D8DEE9"/>
                </a:solidFill>
                <a:latin typeface="Calibri"/>
              </a:rPr>
              <a:t>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60420" y="3008376"/>
            <a:ext cx="1856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3440"/>
                </a:solidFill>
                <a:latin typeface="Calibri"/>
              </a:rPr>
              <a:t>Lineup / Gannett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60420" y="3300984"/>
            <a:ext cx="2478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Width: media publishers and RON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60420" y="3511296"/>
            <a:ext cx="2423160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60420" y="3547872"/>
            <a:ext cx="2478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5454"/>
                </a:solidFill>
                <a:latin typeface="Calibri"/>
              </a:rPr>
              <a:t>Replaces SignRequest in Lineup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60420" y="4352544"/>
            <a:ext cx="50292" cy="50292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51860" y="4315968"/>
            <a:ext cx="2350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3440"/>
                </a:solidFill>
                <a:latin typeface="Calibri"/>
              </a:rPr>
              <a:t>Integration in discussion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80760" y="2843784"/>
            <a:ext cx="2679192" cy="178308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080760" y="2843784"/>
            <a:ext cx="2679192" cy="9144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46720" y="2935224"/>
            <a:ext cx="6583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400" b="1" i="0">
                <a:solidFill>
                  <a:srgbClr val="D8DEE9"/>
                </a:solidFill>
                <a:latin typeface="Calibri"/>
              </a:rPr>
              <a:t>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08776" y="3008376"/>
            <a:ext cx="1856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3440"/>
                </a:solidFill>
                <a:latin typeface="Calibri"/>
              </a:rPr>
              <a:t>Info-Tech Briefing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08776" y="3300984"/>
            <a:ext cx="2478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Width: IT buyer visibility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08776" y="3511296"/>
            <a:ext cx="2423160" cy="635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08776" y="3547872"/>
            <a:ext cx="24780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45454"/>
                </a:solidFill>
                <a:latin typeface="Calibri"/>
              </a:rPr>
              <a:t>Analyst coverage secured at no cost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08776" y="4352544"/>
            <a:ext cx="50292" cy="5029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0216" y="4315968"/>
            <a:ext cx="2350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Scheduling pending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"/>
            <a:ext cx="7955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DA34A"/>
                </a:solidFill>
                <a:latin typeface="Calibri"/>
              </a:rPr>
              <a:t>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83464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3440"/>
                </a:solidFill>
                <a:latin typeface="Calibri"/>
              </a:rPr>
              <a:t>What Success Looks Like at 60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722876"/>
            <a:ext cx="9144000" cy="9525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80" y="48143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E3440"/>
                </a:solidFill>
                <a:latin typeface="Calibri"/>
              </a:rPr>
              <a:t>SIGNiX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4850892"/>
            <a:ext cx="50292" cy="50292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060704"/>
            <a:ext cx="2791663" cy="3474720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07008"/>
            <a:ext cx="253563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D0D8"/>
                </a:solidFill>
                <a:latin typeface="Calibri"/>
              </a:rPr>
              <a:t>AWARENESS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08176"/>
            <a:ext cx="25356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15+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56816"/>
            <a:ext cx="25356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8D0D8"/>
                </a:solidFill>
                <a:latin typeface="Calibri"/>
              </a:rPr>
              <a:t>Qualified leads per month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76272"/>
            <a:ext cx="2535631" cy="9525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67712"/>
            <a:ext cx="2535631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850">
                <a:solidFill>
                  <a:srgbClr val="C8D0D8"/>
                </a:solidFill>
                <a:latin typeface="Calibri"/>
              </a:rPr>
              <a:t>›  Google Ads — 19 keywords across 3 sectors</a:t>
            </a:r>
          </a:p>
          <a:p>
            <a:pPr>
              <a:spcBef>
                <a:spcPts val="700"/>
              </a:spcBef>
            </a:pPr>
            <a:r>
              <a:rPr sz="850">
                <a:solidFill>
                  <a:srgbClr val="C8D0D8"/>
                </a:solidFill>
                <a:latin typeface="Calibri"/>
              </a:rPr>
              <a:t>›  Info-Tech — 1 analyst report published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75711" y="1380744"/>
            <a:ext cx="2791663" cy="2834640"/>
          </a:xfrm>
          <a:prstGeom prst="rect">
            <a:avLst/>
          </a:prstGeom>
          <a:solidFill>
            <a:srgbClr val="3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0303" y="1527048"/>
            <a:ext cx="253563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D0D8"/>
                </a:solidFill>
                <a:latin typeface="Calibri"/>
              </a:rPr>
              <a:t>ENGAGEMENT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0303" y="1728216"/>
            <a:ext cx="25356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40303" y="2276856"/>
            <a:ext cx="25356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8D0D8"/>
                </a:solidFill>
                <a:latin typeface="Calibri"/>
              </a:rPr>
              <a:t>Active accounts per week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40303" y="2496312"/>
            <a:ext cx="2535631" cy="9525"/>
          </a:xfrm>
          <a:prstGeom prst="rect">
            <a:avLst/>
          </a:prstGeom>
          <a:solidFill>
            <a:srgbClr val="6D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0303" y="2587752"/>
            <a:ext cx="2535631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850">
                <a:solidFill>
                  <a:srgbClr val="C8D0D8"/>
                </a:solidFill>
                <a:latin typeface="Calibri"/>
              </a:rPr>
              <a:t>›  ABM Scorecard — 1 or more touchpoints per week</a:t>
            </a:r>
          </a:p>
          <a:p>
            <a:pPr>
              <a:spcBef>
                <a:spcPts val="700"/>
              </a:spcBef>
            </a:pPr>
            <a:r>
              <a:rPr sz="850">
                <a:solidFill>
                  <a:srgbClr val="C8D0D8"/>
                </a:solidFill>
                <a:latin typeface="Calibri"/>
              </a:rPr>
              <a:t>›  Mike Fraud Email — 5% open rate, 2 calls per send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67374" y="1655064"/>
            <a:ext cx="2791663" cy="2286000"/>
          </a:xfrm>
          <a:prstGeom prst="rect">
            <a:avLst/>
          </a:prstGeom>
          <a:solidFill>
            <a:srgbClr val="4A7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1966" y="1801368"/>
            <a:ext cx="253563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8D0D8"/>
                </a:solidFill>
                <a:latin typeface="Calibri"/>
              </a:rPr>
              <a:t>CONVERSION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1966" y="2002536"/>
            <a:ext cx="25356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31966" y="2551176"/>
            <a:ext cx="25356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8D0D8"/>
                </a:solidFill>
                <a:latin typeface="Calibri"/>
              </a:rPr>
              <a:t>Agreements or pilots closed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31966" y="2770632"/>
            <a:ext cx="2535631" cy="9525"/>
          </a:xfrm>
          <a:prstGeom prst="rect">
            <a:avLst/>
          </a:prstGeom>
          <a:solidFill>
            <a:srgbClr val="C8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31966" y="2862072"/>
            <a:ext cx="25356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850">
                <a:solidFill>
                  <a:srgbClr val="C8D0D8"/>
                </a:solidFill>
                <a:latin typeface="Calibri"/>
              </a:rPr>
              <a:t>›  Authentication Activation — 1 FI pilot turned on</a:t>
            </a:r>
          </a:p>
          <a:p>
            <a:pPr>
              <a:spcBef>
                <a:spcPts val="700"/>
              </a:spcBef>
            </a:pPr>
            <a:r>
              <a:rPr sz="850">
                <a:solidFill>
                  <a:srgbClr val="C8D0D8"/>
                </a:solidFill>
                <a:latin typeface="Calibri"/>
              </a:rPr>
              <a:t>›  Lineup / Gannett — integration agreement signed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47695" y="267004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9358" y="267004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4581144"/>
            <a:ext cx="109728" cy="109728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562856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Awareness — top of funnel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75711" y="4581144"/>
            <a:ext cx="109728" cy="109728"/>
          </a:xfrm>
          <a:prstGeom prst="rect">
            <a:avLst/>
          </a:prstGeom>
          <a:solidFill>
            <a:srgbClr val="3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0303" y="4562856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Engagement — mid funnel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67374" y="4581144"/>
            <a:ext cx="109728" cy="109728"/>
          </a:xfrm>
          <a:prstGeom prst="rect">
            <a:avLst/>
          </a:prstGeom>
          <a:solidFill>
            <a:srgbClr val="4A7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31966" y="4562856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Conversion — bottom of funnel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